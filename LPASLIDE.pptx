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0" r:id="rId1"/>
  </p:sldMasterIdLst>
  <p:notesMasterIdLst>
    <p:notesMasterId r:id="rId17"/>
  </p:notesMasterIdLst>
  <p:sldIdLst>
    <p:sldId id="257" r:id="rId2"/>
    <p:sldId id="288" r:id="rId3"/>
    <p:sldId id="302" r:id="rId4"/>
    <p:sldId id="303" r:id="rId5"/>
    <p:sldId id="304" r:id="rId6"/>
    <p:sldId id="306" r:id="rId7"/>
    <p:sldId id="305" r:id="rId8"/>
    <p:sldId id="261" r:id="rId9"/>
    <p:sldId id="308" r:id="rId10"/>
    <p:sldId id="309" r:id="rId11"/>
    <p:sldId id="310" r:id="rId12"/>
    <p:sldId id="263" r:id="rId13"/>
    <p:sldId id="315" r:id="rId14"/>
    <p:sldId id="314" r:id="rId15"/>
    <p:sldId id="284" r:id="rId1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B88714D1-B28D-46A1-9A43-B9B0ED6D6425}">
          <p14:sldIdLst>
            <p14:sldId id="257"/>
            <p14:sldId id="288"/>
            <p14:sldId id="302"/>
            <p14:sldId id="303"/>
            <p14:sldId id="304"/>
            <p14:sldId id="306"/>
            <p14:sldId id="305"/>
            <p14:sldId id="261"/>
            <p14:sldId id="308"/>
            <p14:sldId id="309"/>
            <p14:sldId id="310"/>
            <p14:sldId id="263"/>
            <p14:sldId id="315"/>
            <p14:sldId id="314"/>
          </p14:sldIdLst>
        </p14:section>
        <p14:section name="Seção sem Título" id="{05467B7B-391A-4E7C-88AC-0AEE1929C451}">
          <p14:sldIdLst/>
        </p14:section>
        <p14:section name="Seção sem Título" id="{565149D4-1EBC-46CA-A222-FCF29608E29B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82C11"/>
    <a:srgbClr val="E38B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9" autoAdjust="0"/>
    <p:restoredTop sz="94737" autoAdjust="0"/>
  </p:normalViewPr>
  <p:slideViewPr>
    <p:cSldViewPr>
      <p:cViewPr varScale="1">
        <p:scale>
          <a:sx n="79" d="100"/>
          <a:sy n="79" d="100"/>
        </p:scale>
        <p:origin x="336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264"/>
    </p:cViewPr>
  </p:sorterViewPr>
  <p:notesViewPr>
    <p:cSldViewPr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4B265E-C486-498C-B3A5-36FBD91139E5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 dirty="0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C8AD87-13B2-493D-A2F0-9FA0F1E14308}" type="slidenum">
              <a:rPr lang="pt-PT" smtClean="0"/>
              <a:t>‹nº›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88172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8AD87-13B2-493D-A2F0-9FA0F1E14308}" type="slidenum">
              <a:rPr lang="pt-PT" smtClean="0"/>
              <a:t>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73071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8AD87-13B2-493D-A2F0-9FA0F1E14308}" type="slidenum">
              <a:rPr lang="pt-PT" smtClean="0"/>
              <a:t>8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86249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8AD87-13B2-493D-A2F0-9FA0F1E14308}" type="slidenum">
              <a:rPr lang="pt-PT" smtClean="0"/>
              <a:t>9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5759424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8AD87-13B2-493D-A2F0-9FA0F1E14308}" type="slidenum">
              <a:rPr lang="pt-PT" smtClean="0"/>
              <a:t>10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3241924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C8AD87-13B2-493D-A2F0-9FA0F1E14308}" type="slidenum">
              <a:rPr lang="pt-PT" smtClean="0"/>
              <a:t>11</a:t>
            </a:fld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690902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8063251" y="4203592"/>
            <a:ext cx="383523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3492427" y="4075290"/>
            <a:ext cx="7392687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3771637" y="4087562"/>
            <a:ext cx="729064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7479319" y="4074175"/>
            <a:ext cx="4410667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82220" y="4058555"/>
            <a:ext cx="11631168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043" y="2463560"/>
            <a:ext cx="103632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3153" y="1437449"/>
            <a:ext cx="8556979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C3725A7-EA5B-4C61-BD0F-C42FEBBF322D}" type="datetimeFigureOut">
              <a:rPr lang="pt-PT" smtClean="0"/>
              <a:t>04/06/2026</a:t>
            </a:fld>
            <a:endParaRPr lang="pt-P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pt-P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21451" y="6250164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86EDEAD-AE19-4FAD-ABEB-98650F8D6B0E}" type="slidenum">
              <a:rPr lang="pt-PT" smtClean="0"/>
              <a:t>‹nº›</a:t>
            </a:fld>
            <a:endParaRPr lang="pt-PT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3" r:id="rId3"/>
    <p:sldLayoutId id="2147483904" r:id="rId4"/>
    <p:sldLayoutId id="2147483905" r:id="rId5"/>
    <p:sldLayoutId id="2147483906" r:id="rId6"/>
    <p:sldLayoutId id="2147483907" r:id="rId7"/>
    <p:sldLayoutId id="2147483908" r:id="rId8"/>
    <p:sldLayoutId id="2147483909" r:id="rId9"/>
    <p:sldLayoutId id="2147483910" r:id="rId10"/>
    <p:sldLayoutId id="214748391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639616" y="1639891"/>
            <a:ext cx="6858000" cy="2387600"/>
          </a:xfrm>
        </p:spPr>
        <p:txBody>
          <a:bodyPr anchor="t">
            <a:noAutofit/>
          </a:bodyPr>
          <a:lstStyle/>
          <a:p>
            <a:r>
              <a:rPr lang="pt-PT" sz="18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INSTITUTO POLITÉCNICO DA HUÍLA</a:t>
            </a:r>
            <a:br>
              <a:rPr lang="pt-PT" sz="18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</a:br>
            <a:r>
              <a:rPr lang="pt-PT" sz="18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-LUBANGO-</a:t>
            </a:r>
            <a:r>
              <a:rPr lang="pt-PT" sz="1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pt-BR" sz="1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pt-BR" sz="1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</a:br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7" name="Rectângulo 6"/>
          <p:cNvSpPr/>
          <p:nvPr/>
        </p:nvSpPr>
        <p:spPr>
          <a:xfrm>
            <a:off x="1895107" y="2717641"/>
            <a:ext cx="7815483" cy="646331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BACKTRACING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PT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UMA TÉCNICA DE RESOLUÇÃO DE PROBLEMAS COMPUTACIONAIS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ângulo 7"/>
          <p:cNvSpPr/>
          <p:nvPr/>
        </p:nvSpPr>
        <p:spPr>
          <a:xfrm>
            <a:off x="1146117" y="4044723"/>
            <a:ext cx="9313462" cy="369332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/>
            <a:r>
              <a:rPr lang="pt-PT" b="1" dirty="0" smtClean="0"/>
              <a:t>LABORATÓRIO </a:t>
            </a:r>
            <a:r>
              <a:rPr lang="pt-PT" b="1" dirty="0"/>
              <a:t>DE PROGRAMAÇÃO AVANÇADA</a:t>
            </a:r>
            <a:endParaRPr lang="pt-PT" dirty="0"/>
          </a:p>
        </p:txBody>
      </p:sp>
      <p:sp>
        <p:nvSpPr>
          <p:cNvPr id="11" name="Rectângulo 10"/>
          <p:cNvSpPr/>
          <p:nvPr/>
        </p:nvSpPr>
        <p:spPr>
          <a:xfrm>
            <a:off x="839416" y="5540812"/>
            <a:ext cx="5976664" cy="1241878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r>
              <a:rPr lang="pt-PT" b="1" dirty="0">
                <a:latin typeface="Times New Roman" pitchFamily="18" charset="0"/>
                <a:cs typeface="Times New Roman" pitchFamily="18" charset="0"/>
              </a:rPr>
              <a:t>OS AUTORES:</a:t>
            </a:r>
            <a:endParaRPr lang="pt-PT" dirty="0"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pt-PT" dirty="0"/>
              <a:t>Dário </a:t>
            </a:r>
            <a:r>
              <a:rPr lang="pt-PT" dirty="0" err="1"/>
              <a:t>Puíssa</a:t>
            </a:r>
            <a:r>
              <a:rPr lang="pt-PT" dirty="0"/>
              <a:t> João — N.º 2023100718</a:t>
            </a:r>
            <a:endParaRPr lang="pt-PT" b="1" dirty="0"/>
          </a:p>
          <a:p>
            <a:pPr lvl="0"/>
            <a:r>
              <a:rPr lang="pt-PT" dirty="0"/>
              <a:t>Félix </a:t>
            </a:r>
            <a:r>
              <a:rPr lang="pt-PT" dirty="0" smtClean="0"/>
              <a:t>Firmino Bongue</a:t>
            </a:r>
            <a:r>
              <a:rPr lang="pt-PT" dirty="0"/>
              <a:t> — </a:t>
            </a:r>
            <a:r>
              <a:rPr lang="pt-PT" dirty="0" smtClean="0"/>
              <a:t> 2023142258</a:t>
            </a:r>
            <a:r>
              <a:rPr lang="pt-BR" dirty="0"/>
              <a:t> 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endParaRPr lang="pt-BR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3" name="Rectângulo 2"/>
          <p:cNvSpPr/>
          <p:nvPr/>
        </p:nvSpPr>
        <p:spPr>
          <a:xfrm>
            <a:off x="10251726" y="6450994"/>
            <a:ext cx="1766830" cy="400110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ctr"/>
            <a:r>
              <a:rPr lang="pt-PT" sz="2000" b="1" dirty="0" smtClean="0">
                <a:latin typeface="Times New Roman" pitchFamily="18" charset="0"/>
                <a:cs typeface="Times New Roman" pitchFamily="18" charset="0"/>
              </a:rPr>
              <a:t>Lubango:2026</a:t>
            </a:r>
            <a:endParaRPr lang="pt-PT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" name="Image 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23792" y="412899"/>
            <a:ext cx="3209925" cy="1122680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839416" y="4507918"/>
            <a:ext cx="4309257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Curso de Ciência da Computação — 3.º Ano</a:t>
            </a:r>
          </a:p>
        </p:txBody>
      </p:sp>
    </p:spTree>
    <p:extLst>
      <p:ext uri="{BB962C8B-B14F-4D97-AF65-F5344CB8AC3E}">
        <p14:creationId xmlns:p14="http://schemas.microsoft.com/office/powerpoint/2010/main" val="408489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 advTm="5038">
        <p14:honeycomb/>
      </p:transition>
    </mc:Choice>
    <mc:Fallback xmlns="">
      <p:transition spd="slow" advTm="5038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ESTRUTURA DO </a:t>
            </a:r>
            <a:r>
              <a:rPr lang="en-US" sz="3500" b="1" dirty="0" smtClean="0">
                <a:latin typeface="Times New Roman" pitchFamily="18" charset="0"/>
                <a:cs typeface="Times New Roman" pitchFamily="18" charset="0"/>
              </a:rPr>
              <a:t>TRABALHO</a:t>
            </a:r>
            <a:br>
              <a:rPr lang="en-US" sz="3500" b="1" dirty="0" smtClean="0">
                <a:latin typeface="Times New Roman" pitchFamily="18" charset="0"/>
                <a:cs typeface="Times New Roman" pitchFamily="18" charset="0"/>
              </a:rPr>
            </a:br>
            <a:endParaRPr lang="en-US" sz="35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>
          <a:xfrm>
            <a:off x="1343472" y="2394411"/>
            <a:ext cx="10441160" cy="4437112"/>
          </a:xfrm>
          <a:prstGeom prst="horizontalScroll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Elipse 5"/>
          <p:cNvSpPr/>
          <p:nvPr/>
        </p:nvSpPr>
        <p:spPr>
          <a:xfrm>
            <a:off x="1991544" y="2981086"/>
            <a:ext cx="2520280" cy="895827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</a:rPr>
              <a:t>I: </a:t>
            </a:r>
            <a:r>
              <a:rPr lang="pt-BR" dirty="0"/>
              <a:t>INTRODUÇÃO </a:t>
            </a:r>
            <a:endParaRPr lang="en-US" dirty="0"/>
          </a:p>
        </p:txBody>
      </p:sp>
      <p:sp>
        <p:nvSpPr>
          <p:cNvPr id="7" name="Elipse 6"/>
          <p:cNvSpPr/>
          <p:nvPr/>
        </p:nvSpPr>
        <p:spPr>
          <a:xfrm>
            <a:off x="4007768" y="3648650"/>
            <a:ext cx="4176464" cy="964317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b="1" dirty="0">
                <a:solidFill>
                  <a:schemeClr val="tx1"/>
                </a:solidFill>
              </a:rPr>
              <a:t>CAPÍTULO II</a:t>
            </a:r>
            <a:r>
              <a:rPr lang="pt-BR" dirty="0"/>
              <a:t>: FUNDAMENTAÇÃO </a:t>
            </a:r>
            <a:r>
              <a:rPr lang="pt-BR" dirty="0" smtClean="0"/>
              <a:t>TEÓRICA</a:t>
            </a:r>
            <a:endParaRPr lang="en-US" dirty="0"/>
          </a:p>
        </p:txBody>
      </p:sp>
      <p:sp>
        <p:nvSpPr>
          <p:cNvPr id="8" name="Elipse 7"/>
          <p:cNvSpPr/>
          <p:nvPr/>
        </p:nvSpPr>
        <p:spPr>
          <a:xfrm rot="10800000" flipV="1">
            <a:off x="7084848" y="4730501"/>
            <a:ext cx="4497552" cy="112776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dirty="0">
                <a:solidFill>
                  <a:schemeClr val="tx1"/>
                </a:solidFill>
              </a:rPr>
              <a:t>CAPÍTULO </a:t>
            </a:r>
            <a:r>
              <a:rPr lang="pt-BR" b="1" dirty="0">
                <a:solidFill>
                  <a:schemeClr val="tx1"/>
                </a:solidFill>
              </a:rPr>
              <a:t>III: </a:t>
            </a:r>
            <a:r>
              <a:rPr lang="pt-PT" dirty="0"/>
              <a:t>ESTUDOS DE CASO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742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2CA1F3DA-F0F1-8FA5-29F5-F7F6B34B9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111" y="2060848"/>
            <a:ext cx="9877777" cy="345069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pt-PT" sz="1800" dirty="0">
                <a:solidFill>
                  <a:schemeClr val="tx1"/>
                </a:solidFill>
              </a:rPr>
              <a:t>O presente trabalho propõe-se a examinar em profundidade </a:t>
            </a:r>
            <a:r>
              <a:rPr lang="pt-PT" sz="1800" dirty="0" smtClean="0">
                <a:solidFill>
                  <a:schemeClr val="tx1"/>
                </a:solidFill>
              </a:rPr>
              <a:t>o </a:t>
            </a:r>
            <a:r>
              <a:rPr lang="pt-PT" sz="1800" dirty="0" err="1" smtClean="0">
                <a:solidFill>
                  <a:schemeClr val="tx1"/>
                </a:solidFill>
              </a:rPr>
              <a:t>Backtraking</a:t>
            </a:r>
            <a:r>
              <a:rPr lang="pt-PT" sz="1800" dirty="0" smtClean="0">
                <a:solidFill>
                  <a:schemeClr val="tx1"/>
                </a:solidFill>
              </a:rPr>
              <a:t>, </a:t>
            </a:r>
            <a:r>
              <a:rPr lang="pt-PT" sz="1800" dirty="0">
                <a:solidFill>
                  <a:schemeClr val="tx1"/>
                </a:solidFill>
              </a:rPr>
              <a:t>investigando não apenas seus mecanismos internos, mas também o domínio de problemas para os quais se mostra particularmente adequada. A motivação para este estudo reside na constatação de que, embora amplamente ensinada em cursos introdutórios de algoritmos, a técnica é frequentemente reduzida a um punhado de exemplos canônicos (o problema das N-rainhas, o preenchimento de Sudoku, a geração de permutações), sem que seus fundamentos mais sutis as condições de poda, a escolha das heurísticas, a relação entre recursão e retrocesso sejam adequadamente aprofundados.</a:t>
            </a:r>
            <a:endParaRPr lang="pt-PT" sz="1800" dirty="0">
              <a:solidFill>
                <a:schemeClr val="tx1"/>
              </a:solidFill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74144552-E741-CBFC-BD6B-F214FCA51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itchFamily="18" charset="0"/>
                <a:cs typeface="Times New Roman" pitchFamily="18" charset="0"/>
              </a:rPr>
              <a:t>INTRODUÇÃO</a:t>
            </a:r>
            <a:endParaRPr lang="pt-BR" sz="3500" dirty="0"/>
          </a:p>
        </p:txBody>
      </p:sp>
    </p:spTree>
    <p:extLst>
      <p:ext uri="{BB962C8B-B14F-4D97-AF65-F5344CB8AC3E}">
        <p14:creationId xmlns:p14="http://schemas.microsoft.com/office/powerpoint/2010/main" val="1009006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80AD6-64A7-1B43-4189-3C732F576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837FB84-3BB5-B463-33D1-56DC55FB4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352" y="1241193"/>
            <a:ext cx="10158536" cy="281388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pt-PT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18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objectivo</a:t>
            </a:r>
            <a:r>
              <a:rPr lang="pt-PT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geral do trabalho é analisar 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enquanto técnica algorítmica de resolução de problemas computacionais, compreendendo seus fundamentos teóricos, seu campo de aplicabilidade, suas variações e suas limitações, de modo a fornecer ao estudante de ciência da computação uma base sólida para aplicação consciente e eficaz do método.</a:t>
            </a:r>
          </a:p>
        </p:txBody>
      </p:sp>
      <p:sp>
        <p:nvSpPr>
          <p:cNvPr id="4" name="Retângulo Arredondado 3">
            <a:extLst>
              <a:ext uri="{FF2B5EF4-FFF2-40B4-BE49-F238E27FC236}">
                <a16:creationId xmlns:a16="http://schemas.microsoft.com/office/drawing/2014/main" id="{7C353EC6-1124-14AB-EDAA-E5083E011A03}"/>
              </a:ext>
            </a:extLst>
          </p:cNvPr>
          <p:cNvSpPr/>
          <p:nvPr/>
        </p:nvSpPr>
        <p:spPr>
          <a:xfrm>
            <a:off x="119336" y="3440035"/>
            <a:ext cx="11942234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5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JUSTIFICAÇÃO DA ESCOLHA DO TEMA</a:t>
            </a:r>
            <a:endParaRPr lang="en-US" sz="3500" b="1" dirty="0">
              <a:solidFill>
                <a:srgbClr val="FFFFFF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2FEA6887-2FD1-4E4C-C2A5-5D401ECA1639}"/>
              </a:ext>
            </a:extLst>
          </p:cNvPr>
          <p:cNvSpPr txBox="1">
            <a:spLocks/>
          </p:cNvSpPr>
          <p:nvPr/>
        </p:nvSpPr>
        <p:spPr>
          <a:xfrm>
            <a:off x="456528" y="461522"/>
            <a:ext cx="887916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lvl="3" algn="ctr"/>
            <a:r>
              <a:rPr lang="pt-PT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 Geral</a:t>
            </a:r>
            <a:endParaRPr lang="pt-PT" sz="35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E98C132-D35A-EA9C-2672-A9350927F668}"/>
              </a:ext>
            </a:extLst>
          </p:cNvPr>
          <p:cNvSpPr txBox="1"/>
          <p:nvPr/>
        </p:nvSpPr>
        <p:spPr>
          <a:xfrm>
            <a:off x="479376" y="4151736"/>
            <a:ext cx="9942512" cy="212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PT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ao contrário de muitas abordagens modernas, oferece garantias de exaustividade quando o espaço de busca é finito e a função de rejeição não produz falsos negativos, o algoritmo encontra todas as soluções do problema, ou certifica que nenhuma existe. Esta propriedade é inestimável em contextos onde a completude é exigida em verificação formal, em </a:t>
            </a:r>
            <a:r>
              <a:rPr lang="pt-P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planejamento</a:t>
            </a: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crítico, em problemas onde soluções parciais ou aproximadas são insuficientes.</a:t>
            </a:r>
          </a:p>
        </p:txBody>
      </p:sp>
    </p:spTree>
    <p:extLst>
      <p:ext uri="{BB962C8B-B14F-4D97-AF65-F5344CB8AC3E}">
        <p14:creationId xmlns:p14="http://schemas.microsoft.com/office/powerpoint/2010/main" val="161168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 advTm="19">
        <p:circle/>
      </p:transition>
    </mc:Choice>
    <mc:Fallback xmlns="">
      <p:transition spd="slow" advTm="19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896E7F0-103B-48AA-9C56-F8AF8C1A0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2348880"/>
            <a:ext cx="9877777" cy="345069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termo "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foi introduzido pelo matemático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Derrick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Henry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Lehmer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 década de 1950.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Lehmer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que trabalhava com problemas de teoria dos números envolvendo a busca por soluções inteiras para sistemas de equações, percebeu que poderia acelerar dramaticamente suas computações se, ao invés de gerar todas as combinações possíveis, ele as construísse passo a passo e abandonasse precocemente aquelas que já violassem alguma condição.</a:t>
            </a:r>
          </a:p>
          <a:p>
            <a:pPr algn="just">
              <a:lnSpc>
                <a:spcPct val="150000"/>
              </a:lnSpc>
            </a:pP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técnica, no entanto, tem raízes mais antigas. O matemático inglês Arthur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Cayley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em meados do século XIX, já descrevia métodos sistemáticos para percorrer estruturas combinatórias que hoje reconheceríamos como formas primitivas de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E, antes de qualquer formalização matemática, xadrezistas e solucionadores de quebra-cabeças já empregavam a estratégia intuitiva: tente um movimento, prossiga, e se o futuro revelar um problema, volte atrás e tente outro</a:t>
            </a:r>
            <a:r>
              <a:rPr lang="pt-PT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PT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3C21BD1-7868-2653-8E3D-F87D7D57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t-PT" sz="35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HISTORIAL</a:t>
            </a:r>
            <a:endParaRPr lang="pt-PT" sz="3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5913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>
            <a:extLst>
              <a:ext uri="{FF2B5EF4-FFF2-40B4-BE49-F238E27FC236}">
                <a16:creationId xmlns:a16="http://schemas.microsoft.com/office/drawing/2014/main" id="{D896E7F0-103B-48AA-9C56-F8AF8C1A0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440" y="2564904"/>
            <a:ext cx="9877777" cy="345069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Formalmente, definimos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como um algoritmo de busca sistemática e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exaustivaque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constrói soluções incrementalmente e abandona um caminho de construção (realizando um retrocesso) tão logo determina que este caminho não pode levar a uma solução válida completa. A palavra "exaustiva" é </a:t>
            </a:r>
            <a:r>
              <a:rPr lang="pt-PT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crucial, 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diferentemente de heurísticas que se contentam com soluções aproximadas, o </a:t>
            </a:r>
            <a:r>
              <a:rPr lang="pt-PT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backtracking</a:t>
            </a:r>
            <a:r>
              <a:rPr lang="pt-P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quando corretamente implementado, não perde nenhuma solução. Ele pode ser lento, mas é completo.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83C21BD1-7868-2653-8E3D-F87D7D574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t-PT" sz="35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DEFINIÇÃO</a:t>
            </a:r>
            <a:endParaRPr lang="pt-PT" sz="35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430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D6C698E1-2D01-09BE-AF86-25E88450EA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PT" sz="5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CONCEITOS</a:t>
            </a:r>
            <a:endParaRPr lang="pt-BR" sz="5000" b="1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pt-PT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187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t-PT" sz="3500" b="1" dirty="0">
                <a:solidFill>
                  <a:schemeClr val="bg1"/>
                </a:solidFill>
              </a:rPr>
              <a:t>A Árvore De Busca Como Modelo De Compreensão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98B8A7-C045-EDB6-76F0-6F6001408CA3}"/>
              </a:ext>
            </a:extLst>
          </p:cNvPr>
          <p:cNvSpPr txBox="1"/>
          <p:nvPr/>
        </p:nvSpPr>
        <p:spPr>
          <a:xfrm>
            <a:off x="425719" y="2420888"/>
            <a:ext cx="11340562" cy="25423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PT" dirty="0"/>
              <a:t>Para compreender o </a:t>
            </a:r>
            <a:r>
              <a:rPr lang="pt-PT" dirty="0" err="1"/>
              <a:t>backtracking</a:t>
            </a:r>
            <a:r>
              <a:rPr lang="pt-PT" dirty="0"/>
              <a:t>, precisamos de uma imagem mental apropriada. A imagem mais útil é a da árvore de busca. Cada nó desta árvore representa um estado parcial do problema uma sequência de decisões já tomadas, do início do processo até aquele ponto. A raiz da árvore (nível zero) representa o estado anterior a qualquer decisão. As folhas representam estados terminais: ou soluções completas (quando todas as decisões foram tomadas e todas as restrições são satisfeitas) ou becos sem saída (quando uma decisão inviabilizou qualquer continuação</a:t>
            </a:r>
            <a:r>
              <a:rPr lang="pt-PT" dirty="0" smtClean="0"/>
              <a:t>).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916163350"/>
      </p:ext>
    </p:extLst>
  </p:cSld>
  <p:clrMapOvr>
    <a:masterClrMapping/>
  </p:clrMapOvr>
  <p:transition spd="med" advTm="13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t-PT" sz="3500" b="1" dirty="0">
                <a:solidFill>
                  <a:schemeClr val="bg1"/>
                </a:solidFill>
              </a:rPr>
              <a:t>Recursão E </a:t>
            </a:r>
            <a:r>
              <a:rPr lang="pt-PT" sz="3500" b="1" dirty="0" err="1">
                <a:solidFill>
                  <a:schemeClr val="bg1"/>
                </a:solidFill>
              </a:rPr>
              <a:t>Backtracking</a:t>
            </a:r>
            <a:endParaRPr lang="pt-PT" sz="3500" b="1" dirty="0">
              <a:solidFill>
                <a:schemeClr val="bg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479376" y="1844824"/>
            <a:ext cx="10873208" cy="41395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Arecursãoé</a:t>
            </a: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uma propriedade de certos algoritmos e </a:t>
            </a:r>
            <a:r>
              <a:rPr lang="pt-PT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funções. Uma </a:t>
            </a: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função é recursiva se, durante sua execução, ela invoca a si mesma, direta ou indiretamente. A recursão é uma técnica de programação, uma maneira de estruturar a solução de um problema expressando-o em termos de versões menores de si mesmo. Não há, na recursão pura, nenhum elemento de "volta atrás" ou de reconsideração de escolhas anteriores.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pt-PT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 </a:t>
            </a:r>
            <a:r>
              <a:rPr lang="pt-PT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backtracking</a:t>
            </a: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por outro lado, é uma estratégia algorítmica que quase sempre utiliza recursão como mecanismo de implementação, mas adiciona um ingrediente essencial: a capacidade de desfazer </a:t>
            </a:r>
            <a:r>
              <a:rPr lang="pt-PT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escolhasrealizadas</a:t>
            </a: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em níveis mais profundos da recursão antes de retornar a níveis mais superficiais. É este desfazer este retrocesso que caracteriza a técnica</a:t>
            </a:r>
            <a:r>
              <a:rPr lang="pt-PT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pt-PT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105437"/>
      </p:ext>
    </p:extLst>
  </p:cSld>
  <p:clrMapOvr>
    <a:masterClrMapping/>
  </p:clrMapOvr>
  <p:transition spd="med" advTm="13">
    <p:pull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>
              <a:lnSpc>
                <a:spcPct val="150000"/>
              </a:lnSpc>
            </a:pPr>
            <a:r>
              <a:rPr lang="pt-PT" sz="3500" b="1" dirty="0">
                <a:solidFill>
                  <a:schemeClr val="bg1"/>
                </a:solidFill>
              </a:rPr>
              <a:t>As Funções Constituintes Do Algoritmo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198B8A7-C045-EDB6-76F0-6F6001408CA3}"/>
              </a:ext>
            </a:extLst>
          </p:cNvPr>
          <p:cNvSpPr txBox="1"/>
          <p:nvPr/>
        </p:nvSpPr>
        <p:spPr>
          <a:xfrm>
            <a:off x="241838" y="1916832"/>
            <a:ext cx="1134056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pt-PT" b="1" dirty="0" smtClean="0"/>
              <a:t>A função </a:t>
            </a:r>
            <a:r>
              <a:rPr lang="pt-PT" b="1" dirty="0"/>
              <a:t>de rejeição (</a:t>
            </a:r>
            <a:r>
              <a:rPr lang="pt-PT" b="1" dirty="0" err="1"/>
              <a:t>reject</a:t>
            </a:r>
            <a:r>
              <a:rPr lang="pt-PT" b="1" dirty="0" smtClean="0"/>
              <a:t>)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PT" dirty="0"/>
              <a:t>É o coração da eficiência do método. Dado um candidato parcial (uma sequência de decisões já tomadas), esta função decide se é possível que alguma extensão deste candidato venha a ser uma solução completa. Se a resposta é "não" (caminho inviável), o algoritmo abandona imediatamente todo o </a:t>
            </a:r>
            <a:r>
              <a:rPr lang="pt-PT" dirty="0" err="1"/>
              <a:t>sub-ramo</a:t>
            </a:r>
            <a:r>
              <a:rPr lang="pt-PT" dirty="0"/>
              <a:t> abaixo daquele nó. Quanto mais cedo a inviabilidade for </a:t>
            </a:r>
            <a:r>
              <a:rPr lang="pt-PT" dirty="0" err="1"/>
              <a:t>detectada</a:t>
            </a:r>
            <a:r>
              <a:rPr lang="pt-PT" dirty="0"/>
              <a:t>, maior a poda e menor o esforço computacional.</a:t>
            </a:r>
            <a:endParaRPr lang="pt-P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241838" y="4134354"/>
            <a:ext cx="102570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/>
            <a:r>
              <a:rPr lang="pt-PT" b="1" dirty="0"/>
              <a:t>A função de aceitação (</a:t>
            </a:r>
            <a:r>
              <a:rPr lang="pt-PT" b="1" dirty="0" err="1"/>
              <a:t>accept</a:t>
            </a:r>
            <a:r>
              <a:rPr lang="pt-PT" b="1" dirty="0"/>
              <a:t>)</a:t>
            </a:r>
          </a:p>
        </p:txBody>
      </p:sp>
      <p:sp>
        <p:nvSpPr>
          <p:cNvPr id="4" name="Retângulo 3"/>
          <p:cNvSpPr/>
          <p:nvPr/>
        </p:nvSpPr>
        <p:spPr>
          <a:xfrm>
            <a:off x="241838" y="4581676"/>
            <a:ext cx="10002418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Determina se um candidato é, ele próprio, uma solução completa e válida para o problema. Diferentemente da rejeição, que opera sobre candidatos parciais, a aceitação tipicamente se aplica quando o candidato atingiu o tamanho máximo (todas as decisões foram tomadas) e atende a todas as restrições.</a:t>
            </a:r>
          </a:p>
        </p:txBody>
      </p:sp>
    </p:spTree>
    <p:extLst>
      <p:ext uri="{BB962C8B-B14F-4D97-AF65-F5344CB8AC3E}">
        <p14:creationId xmlns:p14="http://schemas.microsoft.com/office/powerpoint/2010/main" val="2784716602"/>
      </p:ext>
    </p:extLst>
  </p:cSld>
  <p:clrMapOvr>
    <a:masterClrMapping/>
  </p:clrMapOvr>
  <p:transition spd="med" advTm="13">
    <p:pull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endParaRPr lang="pt-PT" sz="3500" b="1" dirty="0">
              <a:solidFill>
                <a:schemeClr val="bg1"/>
              </a:solidFill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816768" y="2276872"/>
            <a:ext cx="61203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2" algn="just">
              <a:spcBef>
                <a:spcPts val="200"/>
              </a:spcBef>
              <a:spcAft>
                <a:spcPts val="600"/>
              </a:spcAft>
            </a:pPr>
            <a:r>
              <a:rPr lang="pt-PT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função de geração da primeira extensão (</a:t>
            </a:r>
            <a:r>
              <a:rPr lang="pt-PT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PT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PT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119336" y="2630588"/>
            <a:ext cx="8856984" cy="1294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Produz a primeira alternativa a ser explorada a partir de um dado candidato. A ordem em que as alternativas são geradas tem impacto significativo sobre o desempenho, especialmente quando combinada com heurísticas que buscam primeiro os caminhos mais promissores.</a:t>
            </a:r>
            <a:endParaRPr lang="pt-PT" dirty="0"/>
          </a:p>
        </p:txBody>
      </p:sp>
      <p:sp>
        <p:nvSpPr>
          <p:cNvPr id="6" name="Retângulo 5"/>
          <p:cNvSpPr/>
          <p:nvPr/>
        </p:nvSpPr>
        <p:spPr>
          <a:xfrm>
            <a:off x="0" y="3924981"/>
            <a:ext cx="5303576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 função de geração da próxima extensão (</a:t>
            </a:r>
            <a:r>
              <a:rPr lang="pt-PT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next</a:t>
            </a:r>
            <a:r>
              <a:rPr lang="pt-PT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endParaRPr lang="pt-PT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119336" y="4295099"/>
            <a:ext cx="8208912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Produz, a partir de uma extensão já explorada, a extensão seguinte na ordem estabelecida. Quando não há mais extensões a explorar, esta função retorna um valor nulo, sinalizando que o algoritmo deve retroceder ao nível anterior.</a:t>
            </a:r>
          </a:p>
        </p:txBody>
      </p:sp>
    </p:spTree>
    <p:extLst>
      <p:ext uri="{BB962C8B-B14F-4D97-AF65-F5344CB8AC3E}">
        <p14:creationId xmlns:p14="http://schemas.microsoft.com/office/powerpoint/2010/main" val="3755459661"/>
      </p:ext>
    </p:extLst>
  </p:cSld>
  <p:clrMapOvr>
    <a:masterClrMapping/>
  </p:clrMapOvr>
  <p:transition spd="med" advTm="13">
    <p:pull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1" algn="ctr"/>
            <a:r>
              <a:rPr lang="pt-PT" sz="3500" b="1" dirty="0">
                <a:solidFill>
                  <a:schemeClr val="bg1"/>
                </a:solidFill>
              </a:rPr>
              <a:t>Onde O </a:t>
            </a:r>
            <a:r>
              <a:rPr lang="pt-PT" sz="3500" b="1" dirty="0" err="1">
                <a:solidFill>
                  <a:schemeClr val="bg1"/>
                </a:solidFill>
              </a:rPr>
              <a:t>Backtracking</a:t>
            </a:r>
            <a:r>
              <a:rPr lang="pt-PT" sz="3500" b="1" dirty="0">
                <a:solidFill>
                  <a:schemeClr val="bg1"/>
                </a:solidFill>
              </a:rPr>
              <a:t> Se Aplica</a:t>
            </a:r>
          </a:p>
        </p:txBody>
      </p:sp>
      <p:sp>
        <p:nvSpPr>
          <p:cNvPr id="6" name="Retângulo 5"/>
          <p:cNvSpPr/>
          <p:nvPr/>
        </p:nvSpPr>
        <p:spPr>
          <a:xfrm>
            <a:off x="1487488" y="2636912"/>
            <a:ext cx="85689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PT" dirty="0"/>
              <a:t>Nem todo problema computacional se presta a uma solução por </a:t>
            </a:r>
            <a:r>
              <a:rPr lang="pt-PT" dirty="0" err="1"/>
              <a:t>backtracking</a:t>
            </a:r>
            <a:r>
              <a:rPr lang="pt-PT" dirty="0"/>
              <a:t>. Identificar as condições de aplicabilidade é tão importante quanto dominar a técnica em si.</a:t>
            </a:r>
          </a:p>
          <a:p>
            <a:r>
              <a:rPr lang="pt-PT" dirty="0"/>
              <a:t>O </a:t>
            </a:r>
            <a:r>
              <a:rPr lang="pt-PT" dirty="0" err="1"/>
              <a:t>backtracking</a:t>
            </a:r>
            <a:r>
              <a:rPr lang="pt-PT" dirty="0"/>
              <a:t> é particularmente </a:t>
            </a:r>
            <a:r>
              <a:rPr lang="pt-PT" dirty="0" err="1"/>
              <a:t>adequadopara</a:t>
            </a:r>
            <a:r>
              <a:rPr lang="pt-PT" dirty="0"/>
              <a:t> problemas que exibem as seguintes características</a:t>
            </a:r>
            <a:r>
              <a:rPr lang="pt-PT" dirty="0" smtClean="0"/>
              <a:t>:</a:t>
            </a:r>
          </a:p>
          <a:p>
            <a:endParaRPr lang="pt-PT" dirty="0" smtClean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pt-PT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Estrutura </a:t>
            </a:r>
            <a:r>
              <a:rPr lang="pt-PT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decisão </a:t>
            </a:r>
            <a:r>
              <a:rPr lang="pt-PT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sequencial</a:t>
            </a:r>
            <a:endParaRPr lang="pt-PT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pt-PT" b="1" dirty="0"/>
              <a:t>Domínios pequenos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pt-PT" b="1" dirty="0"/>
              <a:t>Soluções completas </a:t>
            </a:r>
            <a:r>
              <a:rPr lang="pt-PT" b="1" dirty="0" smtClean="0"/>
              <a:t>necessárias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pt-PT" b="1" dirty="0"/>
              <a:t>Domínios pequenos</a:t>
            </a: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pt-PT" b="1" dirty="0"/>
              <a:t>Testabilidade precoce</a:t>
            </a:r>
          </a:p>
          <a:p>
            <a:endParaRPr lang="pt-PT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1423772"/>
      </p:ext>
    </p:extLst>
  </p:cSld>
  <p:clrMapOvr>
    <a:masterClrMapping/>
  </p:clrMapOvr>
  <p:transition spd="med" advTm="75">
    <p:pull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Onde o </a:t>
            </a:r>
            <a:r>
              <a:rPr lang="pt-PT" dirty="0" err="1"/>
              <a:t>backtracking</a:t>
            </a:r>
            <a:r>
              <a:rPr lang="pt-PT" dirty="0"/>
              <a:t>  Não Se Aplica</a:t>
            </a:r>
            <a:endParaRPr lang="pt-PT" dirty="0"/>
          </a:p>
        </p:txBody>
      </p:sp>
      <p:sp>
        <p:nvSpPr>
          <p:cNvPr id="5" name="Retângulo 4"/>
          <p:cNvSpPr/>
          <p:nvPr/>
        </p:nvSpPr>
        <p:spPr>
          <a:xfrm>
            <a:off x="1703512" y="2492896"/>
            <a:ext cx="74168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PT" b="1" dirty="0" smtClean="0"/>
              <a:t>Problemas </a:t>
            </a:r>
            <a:r>
              <a:rPr lang="pt-PT" b="1" dirty="0"/>
              <a:t>de otimização </a:t>
            </a:r>
            <a:r>
              <a:rPr lang="pt-PT" b="1" dirty="0" smtClean="0"/>
              <a:t>contínua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PT" b="1" dirty="0"/>
              <a:t>Problemas onde a poda é ineficaz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PT" b="1" dirty="0"/>
              <a:t>Problemas que admitem algoritmos gulosos ótimos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pt-PT" b="1" dirty="0"/>
              <a:t>Problemas muito grandes</a:t>
            </a:r>
          </a:p>
          <a:p>
            <a:pPr lvl="2"/>
            <a:endParaRPr lang="pt-PT" b="1" dirty="0"/>
          </a:p>
        </p:txBody>
      </p:sp>
      <p:sp>
        <p:nvSpPr>
          <p:cNvPr id="4" name="Retângulo 3"/>
          <p:cNvSpPr/>
          <p:nvPr/>
        </p:nvSpPr>
        <p:spPr>
          <a:xfrm>
            <a:off x="767408" y="3917956"/>
            <a:ext cx="9001000" cy="1908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b="1" dirty="0"/>
              <a:t>Poda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A </a:t>
            </a: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poda ocorre quando a função de rejeição, aplicada a um nó, retorna verdadeiro. Neste momento, todo o </a:t>
            </a:r>
            <a:r>
              <a:rPr lang="pt-PT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sub-ramo</a:t>
            </a: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abaixo daquele nó é ignorado. O ganho é igual ao número de nós no </a:t>
            </a:r>
            <a:r>
              <a:rPr lang="pt-PT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sub-ramo</a:t>
            </a: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 podado multiplicado pelo custo por nó.</a:t>
            </a:r>
          </a:p>
        </p:txBody>
      </p:sp>
    </p:spTree>
    <p:extLst>
      <p:ext uri="{BB962C8B-B14F-4D97-AF65-F5344CB8AC3E}">
        <p14:creationId xmlns:p14="http://schemas.microsoft.com/office/powerpoint/2010/main" val="3105341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CASO DE E</a:t>
            </a:r>
            <a:r>
              <a:rPr lang="pt-PT" b="1" dirty="0" smtClean="0"/>
              <a:t>STUDO</a:t>
            </a:r>
            <a:endParaRPr lang="pt-PT" dirty="0"/>
          </a:p>
        </p:txBody>
      </p:sp>
      <p:sp>
        <p:nvSpPr>
          <p:cNvPr id="5" name="Retângulo 4"/>
          <p:cNvSpPr/>
          <p:nvPr/>
        </p:nvSpPr>
        <p:spPr>
          <a:xfrm>
            <a:off x="1703512" y="2492896"/>
            <a:ext cx="7416824" cy="367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>
              <a:lnSpc>
                <a:spcPct val="107000"/>
              </a:lnSpc>
              <a:spcAft>
                <a:spcPts val="1570"/>
              </a:spcAft>
            </a:pPr>
            <a:endParaRPr lang="pt-PT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1763688" y="2459008"/>
            <a:ext cx="9228856" cy="330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b="1" dirty="0"/>
              <a:t>O Problema Das N-Rainhas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pt-PT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pt-PT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O </a:t>
            </a:r>
            <a:r>
              <a:rPr lang="pt-PT" dirty="0">
                <a:latin typeface="Times New Roman" panose="02020603050405020304" pitchFamily="18" charset="0"/>
                <a:ea typeface="Times New Roman" panose="02020603050405020304" pitchFamily="18" charset="0"/>
              </a:rPr>
              <a:t>problema consiste em posicionar N rainhas em um tabuleiro de xadrez de dimensões N×N de modo que nenhuma rainha ataque outra. Em termos de restrições: não pode haver duas rainhas na mesma linha, na mesma coluna ou na mesma diagonal (principal ou secundária). Para N=8 (o tabuleiro tradicional), existem 92 soluções distintas (não considerando simetrias); para N=4, existem 2.</a:t>
            </a:r>
          </a:p>
        </p:txBody>
      </p:sp>
    </p:spTree>
    <p:extLst>
      <p:ext uri="{BB962C8B-B14F-4D97-AF65-F5344CB8AC3E}">
        <p14:creationId xmlns:p14="http://schemas.microsoft.com/office/powerpoint/2010/main" val="194562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-312712" y="1772816"/>
            <a:ext cx="12350740" cy="3890429"/>
          </a:xfrm>
          <a:solidFill>
            <a:schemeClr val="bg1"/>
          </a:solidFill>
          <a:ln>
            <a:solidFill>
              <a:schemeClr val="bg1"/>
            </a:solidFill>
          </a:ln>
          <a:effectLst>
            <a:softEdge rad="6350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pt-BR" sz="6000" b="1" spc="-150" dirty="0">
                <a:ln w="11430"/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pt-BR" sz="6000" b="1" spc="-150" dirty="0">
                <a:ln w="11430"/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pt-BR" sz="6000" b="1" spc="-150" dirty="0">
                <a:ln w="11430"/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pt-BR" sz="6000" b="1" spc="-150" dirty="0">
                <a:ln w="11430"/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pt-BR" sz="6000" b="1" spc="-150" dirty="0">
                <a:ln w="11430"/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MUITO</a:t>
            </a:r>
            <a:r>
              <a:rPr lang="pt-BR" sz="6000" b="1" spc="-150" dirty="0">
                <a:ln w="11430"/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lang="pt-BR" sz="6000" b="1" spc="-150" dirty="0">
                <a:ln w="11430"/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OBRIGADO</a:t>
            </a:r>
            <a:r>
              <a:rPr lang="pt-BR" sz="6000" b="1" spc="-150" dirty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pt-BR" sz="6000" b="1" spc="-150" dirty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lang="pt-BR" sz="6000" b="1" spc="-150" dirty="0">
                <a:ln w="11430"/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FIM</a:t>
            </a:r>
            <a:r>
              <a:rPr lang="pt-BR" sz="6000" b="1" spc="-150" dirty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!</a:t>
            </a:r>
            <a:endParaRPr lang="pt-PT" sz="6000" b="1" spc="-1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2666" y="4869159"/>
            <a:ext cx="3106668" cy="195762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90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 advTm="17">
        <p:checker/>
      </p:transition>
    </mc:Choice>
    <mc:Fallback xmlns="">
      <p:transition spd="slow" advTm="17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rma de Onda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orma de Onda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orma de Onda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5934</TotalTime>
  <Words>1244</Words>
  <Application>Microsoft Office PowerPoint</Application>
  <PresentationFormat>Widescreen</PresentationFormat>
  <Paragraphs>66</Paragraphs>
  <Slides>15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Candara</vt:lpstr>
      <vt:lpstr>Symbol</vt:lpstr>
      <vt:lpstr>Times New Roman</vt:lpstr>
      <vt:lpstr>Forma de Onda</vt:lpstr>
      <vt:lpstr>INSTITUTO POLITÉCNICO DA HUÍLA -LUBANGO-  </vt:lpstr>
      <vt:lpstr>ESTRUTURA DO TRABALHO </vt:lpstr>
      <vt:lpstr>INTRODUÇÃO</vt:lpstr>
      <vt:lpstr>Apresentação do PowerPoint</vt:lpstr>
      <vt:lpstr>HISTORIAL</vt:lpstr>
      <vt:lpstr>DEFINIÇÃO</vt:lpstr>
      <vt:lpstr>CONCEITOS</vt:lpstr>
      <vt:lpstr>A Árvore De Busca Como Modelo De Compreensão</vt:lpstr>
      <vt:lpstr>Recursão E Backtracking</vt:lpstr>
      <vt:lpstr>As Funções Constituintes Do Algoritmo</vt:lpstr>
      <vt:lpstr>Apresentação do PowerPoint</vt:lpstr>
      <vt:lpstr>Onde O Backtracking Se Aplica</vt:lpstr>
      <vt:lpstr>Onde o backtracking  Não Se Aplica</vt:lpstr>
      <vt:lpstr>CASO DE ESTUDO</vt:lpstr>
      <vt:lpstr>  MUITO OBRIGADO FIM!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HP</dc:creator>
  <cp:lastModifiedBy>Server_404</cp:lastModifiedBy>
  <cp:revision>361</cp:revision>
  <dcterms:created xsi:type="dcterms:W3CDTF">2022-03-10T15:43:57Z</dcterms:created>
  <dcterms:modified xsi:type="dcterms:W3CDTF">2026-06-04T09:11:49Z</dcterms:modified>
</cp:coreProperties>
</file>